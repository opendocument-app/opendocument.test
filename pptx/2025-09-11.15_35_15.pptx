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howGuides="1"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theme" Target="theme/theme1.xml" /><Relationship Id="rId24" Type="http://schemas.openxmlformats.org/officeDocument/2006/relationships/tableStyles" Target="tableStyles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660"/>
            <a:ext cx="7772400" cy="861695"/>
          </a:xfrm>
        </p:spPr>
        <p:txBody>
          <a:bodyPr vert="horz" lIns="91440" tIns="45720" rIns="91440" bIns="45720" rtlCol="0" anchor="ctr">
            <a:normAutofit/>
          </a:bodyPr>
          <a:lstStyle>
            <a:lvl1pPr marL="0" marR="0" lvl="0" algn="ctr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en-US" altLang="en-US" sz="3400" b="1" i="0" u="none" strike="noStrike" kern="1200" cap="none" spc="0" normalizeH="0" baseline="0" noProof="1">
                <a:solidFill>
                  <a:srgbClr val="456CF5"/>
                </a:solidFill>
                <a:effectLst/>
                <a:latin typeface="微软雅黑" charset="0"/>
                <a:ea typeface="微软雅黑" charset="0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71750"/>
            <a:ext cx="6400800" cy="1314450"/>
          </a:xfrm>
        </p:spPr>
        <p:txBody>
          <a:bodyPr vert="horz" lIns="91440" tIns="45720" rIns="91440" bIns="45720" rtlCol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90204" pitchFamily="34" charset="0"/>
              <a:buNone/>
              <a:defRPr kumimoji="0" lang="en-US" altLang="en-US" sz="2400" b="0" i="0" u="none" strike="noStrike" kern="1200" cap="none" spc="0" normalizeH="0" baseline="0" noProof="1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+mn-cs"/>
                <a:sym typeface="+mn-ea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>
                <a:sym typeface="+mn-ea"/>
              </a:rPr>
              <a:t>Click to edit Master subtitle style</a:t>
            </a:r>
            <a:endParaRPr>
              <a:sym typeface="+mn-ea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630" y="1684655"/>
            <a:ext cx="7772400" cy="814070"/>
          </a:xfrm>
        </p:spPr>
        <p:txBody>
          <a:bodyPr vert="horz" lIns="91440" tIns="45720" rIns="91440" bIns="4572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en-US" altLang="en-US" sz="3400" b="1" i="0" u="none" strike="noStrike" kern="1200" cap="none" spc="0" normalizeH="0" baseline="0" noProof="1">
                <a:solidFill>
                  <a:srgbClr val="456CF5"/>
                </a:solidFill>
                <a:effectLst/>
                <a:latin typeface="微软雅黑" charset="0"/>
                <a:ea typeface="微软雅黑" charset="0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71830"/>
            <a:ext cx="7772400" cy="1125140"/>
          </a:xfrm>
        </p:spPr>
        <p:txBody>
          <a:bodyPr vert="horz" lIns="91440" tIns="45720" rIns="91440" bIns="45720" rtlCol="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90204" pitchFamily="34" charset="0"/>
              <a:buNone/>
              <a:defRPr kumimoji="0" lang="en-US" altLang="en-US" sz="2400" b="0" i="0" u="none" strike="noStrike" kern="1200" cap="none" spc="0" normalizeH="0" baseline="0" noProof="1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+mn-cs"/>
                <a:sym typeface="+mn-ea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>
                <a:sym typeface="+mn-ea"/>
              </a:rPr>
              <a:t>Click to edit Master text styles</a:t>
            </a:r>
            <a:endParaRPr>
              <a:sym typeface="+mn-ea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36625"/>
            <a:ext cx="4038600" cy="365823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36625"/>
            <a:ext cx="4038600" cy="365823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7861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57960"/>
            <a:ext cx="4040505" cy="31369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97861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57960"/>
            <a:ext cx="4041775" cy="31369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364"/>
            <a:ext cx="8229600" cy="857250"/>
          </a:xfrm>
        </p:spPr>
        <p:txBody>
          <a:bodyPr/>
          <a:lstStyle>
            <a:lvl1pPr algn="ctr">
              <a:defRPr kumimoji="0" lang="en-US" altLang="en-US" sz="3400" b="1" i="0" u="none" strike="noStrike" kern="1200" cap="none" spc="0" normalizeH="0" baseline="0" noProof="1">
                <a:solidFill>
                  <a:srgbClr val="456CF5"/>
                </a:solidFill>
                <a:effectLst/>
                <a:latin typeface="微软雅黑" charset="0"/>
                <a:ea typeface="微软雅黑" charset="0"/>
                <a:cs typeface="+mj-cs"/>
                <a:sym typeface="+mn-ea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kumimoji="0" lang="en-US" altLang="en-US" sz="2600" b="1" i="0" u="none" strike="noStrike" kern="1200" cap="none" spc="0" normalizeH="0" baseline="0" noProof="1">
                <a:solidFill>
                  <a:srgbClr val="456CF5"/>
                </a:solidFill>
                <a:effectLst/>
                <a:latin typeface="微软雅黑" charset="0"/>
                <a:ea typeface="微软雅黑" charset="0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kumimoji="0" lang="en-US" sz="1800" b="0" i="0" u="none" strike="noStrike" kern="1200" cap="none" spc="0" normalizeH="0" baseline="0" noProof="1">
                <a:solidFill>
                  <a:schemeClr val="tx1"/>
                </a:solidFill>
                <a:latin typeface="微软雅黑" charset="0"/>
                <a:ea typeface="微软雅黑" charset="0"/>
                <a:cs typeface="+mn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kumimoji="0" lang="en-US" altLang="en-US" sz="2600" b="1" i="0" u="none" strike="noStrike" kern="1200" cap="none" spc="0" normalizeH="0" baseline="0" noProof="1">
                <a:solidFill>
                  <a:srgbClr val="456CF5"/>
                </a:solidFill>
                <a:effectLst/>
                <a:latin typeface="微软雅黑" charset="0"/>
                <a:ea typeface="微软雅黑" charset="0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kumimoji="0" lang="en-US" sz="1800" b="0" i="0" u="none" strike="noStrike" kern="1200" cap="none" spc="0" normalizeH="0" baseline="0" noProof="1">
                <a:solidFill>
                  <a:schemeClr val="tx1"/>
                </a:solidFill>
                <a:latin typeface="微软雅黑" charset="0"/>
                <a:ea typeface="微软雅黑" charset="0"/>
                <a:cs typeface="+mn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9" Target="../slideLayouts/slideLayout9.xml" Type="http://schemas.openxmlformats.org/officeDocument/2006/relationships/slideLayout" /><Relationship Id="rId8" Target="../slideLayouts/slideLayout8.xml" Type="http://schemas.openxmlformats.org/officeDocument/2006/relationships/slideLayout" /><Relationship Id="rId7" Target="../slideLayouts/slideLayout7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3" Target="../slideLayouts/slideLayout3.xml" Type="http://schemas.openxmlformats.org/officeDocument/2006/relationships/slideLayout" /><Relationship Id="rId2" Target="../slideLayouts/slideLayout2.xml" Type="http://schemas.openxmlformats.org/officeDocument/2006/relationships/slideLayout" /><Relationship Id="rId12" Target="../theme/theme1.xml" Type="http://schemas.openxmlformats.org/officeDocument/2006/relationships/theme" /><Relationship Id="rId11" Target="../media/image3.svg" Type="http://schemas.openxmlformats.org/officeDocument/2006/relationships/image" /><Relationship Id="rId10" Target="../media/image2.png" Type="http://schemas.openxmlformats.org/officeDocument/2006/relationships/image" /><Relationship Id="rId1" Target="../slideLayouts/slideLayout1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64897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>
            <a:lvl1pPr algn="l" defTabSz="914400" eaLnBrk="1" fontAlgn="auto" hangingPunct="1" latinLnBrk="0" lvl="0" marL="0" marR="0" rtl="0">
              <a:lnSpc>
                <a:spcPct val="90000"/>
              </a:lnSpc>
              <a:buClrTx/>
              <a:buSzTx/>
              <a:buFontTx/>
              <a:buNone/>
              <a:defRPr altLang="en-US" b="1" baseline="0" cap="none" dirty="0" i="0" kern="1200" kumimoji="0" lang="zh-CN" noProof="1" normalizeH="0" spc="0" strike="noStrike" sz="2600" u="none">
                <a:solidFill>
                  <a:srgbClr val="456CF5"/>
                </a:solidFill>
                <a:effectLst/>
                <a:latin charset="0" typeface="微软雅黑"/>
                <a:ea charset="0" typeface="微软雅黑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48690"/>
            <a:ext cx="8229600" cy="364617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panose="020B0604020202090204" typeface="Arial"/>
        <a:buChar char="•"/>
        <a:defRPr kern="1200" sz="2400">
          <a:solidFill>
            <a:schemeClr val="tx1"/>
          </a:solidFill>
          <a:latin charset="0" typeface="微软雅黑"/>
          <a:ea charset="0" typeface="微软雅黑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panose="020B0604020202090204" typeface="Arial"/>
        <a:buChar char="–"/>
        <a:defRPr kern="1200" sz="2100">
          <a:solidFill>
            <a:schemeClr val="tx1"/>
          </a:solidFill>
          <a:latin charset="0" typeface="微软雅黑"/>
          <a:ea charset="0" typeface="微软雅黑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panose="020B0604020202090204" typeface="Arial"/>
        <a:buChar char="•"/>
        <a:defRPr kern="1200" sz="1800">
          <a:solidFill>
            <a:schemeClr val="tx1"/>
          </a:solidFill>
          <a:latin charset="0" typeface="微软雅黑"/>
          <a:ea charset="0" typeface="微软雅黑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panose="020B0604020202090204" typeface="Arial"/>
        <a:buChar char="–"/>
        <a:defRPr kern="1200" sz="1500">
          <a:solidFill>
            <a:schemeClr val="tx1"/>
          </a:solidFill>
          <a:latin charset="0" typeface="微软雅黑"/>
          <a:ea charset="0" typeface="微软雅黑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panose="020B0604020202090204" typeface="Arial"/>
        <a:buChar char="»"/>
        <a:defRPr kern="1200" sz="1500">
          <a:solidFill>
            <a:schemeClr val="tx1"/>
          </a:solidFill>
          <a:latin charset="0" typeface="微软雅黑"/>
          <a:ea charset="0" typeface="微软雅黑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panose="020B0604020202090204"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panose="020B0604020202090204"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panose="020B0604020202090204"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panose="020B0604020202090204"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630" y="1684655"/>
            <a:ext cx="7772400" cy="81407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产品识别问题解决方案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会议讨论聚焦产品识别失败问题，涉及设备兼容性、软件版本和测试流程等关键因素。建议从技术优化、流程规范和团队协作三个维度制定系统性解决方案。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技术优化方案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针对会议中反复出现的设备兼容性问题，建议成立专项技术攻坚小组。首先需要对华为、三星、OPPO等主流品牌设备进行兼容性测试，建立设备兼容性数据库。其次要重点解决蓝牙连接不稳定的技术瓶颈，可考虑升级通信协议或增加信号增强模块。软件版本管理方面，需建立新旧版本切换机制，确保向后兼容性，同时完善版本更新日志和用户通知流程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实施要点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技术测试小组组建方案</a:t>
            </a:r>
            <a:br/>
            <a:r>
              <a:rPr/>
              <a:t>设备兼容性测试标准制定</a:t>
            </a:r>
            <a:br/>
            <a:r>
              <a:rPr/>
              <a:t>蓝牙协议升级可行性分析</a:t>
            </a:r>
            <a:br/>
            <a:r>
              <a:rPr/>
              <a:t>信号增强模块选型评估</a:t>
            </a:r>
            <a:br/>
            <a:r>
              <a:rPr/>
              <a:t>版本管理流程优化方案</a:t>
            </a:r>
            <a:br/>
            <a:r>
              <a:rPr/>
              <a:t>用户通知机制完善计划</a:t>
            </a:r>
            <a:br/>
            <a:r>
              <a:rPr/>
              <a:t>测试环境搭建方案</a:t>
            </a:r>
            <a:br/>
            <a:r>
              <a:rPr/>
              <a:t>问题反馈渠道优化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630" y="1684655"/>
            <a:ext cx="7772400" cy="81407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流程优化方案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会议暴露出测试流程不规范的严重问题。建议建立标准化的测试操作流程，包括测试用例设计、执行记录和问题上报机制。特别要规范小房间测试和会议室测试的协同流程，确保测试环境一致性。同时建立问题分级处理机制，对识别失败等关键问题设置24小时响应时限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执行计划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测试用例模板设计</a:t>
            </a:r>
            <a:br/>
            <a:r>
              <a:rPr/>
              <a:t>测试记录标准化方案</a:t>
            </a:r>
            <a:br/>
            <a:r>
              <a:rPr/>
              <a:t>问题分级标准制定</a:t>
            </a:r>
            <a:br/>
            <a:r>
              <a:rPr/>
              <a:t>响应时效管理机制</a:t>
            </a:r>
            <a:br/>
            <a:r>
              <a:rPr/>
              <a:t>测试环境配置规范</a:t>
            </a:r>
            <a:br/>
            <a:r>
              <a:rPr/>
              <a:t>跨部门协作流程</a:t>
            </a:r>
            <a:br/>
            <a:r>
              <a:rPr/>
              <a:t>质量控制检查点设置</a:t>
            </a:r>
            <a:br/>
            <a:r>
              <a:rPr/>
              <a:t>持续改进评估机制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630" y="1684655"/>
            <a:ext cx="7772400" cy="81407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团队协作方案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会议中反映出沟通不畅和权责不清的问题。建议建立跨部门产品识别问题处理小组，明确技术、测试、客服等各环节责任人。定期召开问题分析会，建立知识共享平台。重点解决李强等同事提出的个性化问题，建立专家支持机制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协作机制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跨部门小组组织架构</a:t>
            </a:r>
            <a:br/>
            <a:r>
              <a:rPr/>
              <a:t>岗位职责界定方案</a:t>
            </a:r>
            <a:br/>
            <a:r>
              <a:rPr/>
              <a:t>问题分析会制度</a:t>
            </a:r>
            <a:br/>
            <a:r>
              <a:rPr/>
              <a:t>知识管理平台建设</a:t>
            </a:r>
            <a:br/>
            <a:r>
              <a:rPr/>
              <a:t>专家支持值班表</a:t>
            </a:r>
            <a:br/>
            <a:r>
              <a:rPr/>
              <a:t>沟通反馈机制</a:t>
            </a:r>
            <a:br/>
            <a:r>
              <a:rPr/>
              <a:t>培训计划制定</a:t>
            </a:r>
            <a:br/>
            <a:r>
              <a:rPr/>
              <a:t>绩效考核指标调整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(16:9)</PresentationFormat>
  <Paragraphs>0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汉仪旗黑</vt:lpstr>
      <vt:lpstr>Arial</vt:lpstr>
      <vt:lpstr>微软雅黑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2025-09-11T07:36:20Z</dcterms:created>
  <dcterms:modified xsi:type="dcterms:W3CDTF">2025-09-11T07:36:20Z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